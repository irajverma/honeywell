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8FAFC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97135" cy="4919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800"/>
              </a:spcAft>
              <a:defRPr sz="2600" b="1">
                <a:solidFill>
                  <a:srgbClr val="0F172A"/>
                </a:solidFill>
              </a:defRPr>
            </a:pPr>
            <a:r>
              <a:rPr sz="3600" dirty="0" err="1"/>
              <a:t>SentinelAI</a:t>
            </a:r>
            <a:r>
              <a:rPr sz="3600" dirty="0"/>
              <a:t>: Tiered Hybrid Ensemble</a:t>
            </a:r>
            <a:r>
              <a:rPr lang="en-IN" sz="3600" dirty="0"/>
              <a:t> </a:t>
            </a:r>
            <a:r>
              <a:rPr sz="3600" dirty="0"/>
              <a:t> Architecture for Enterprise Anomaly Defense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D97706"/>
                </a:solidFill>
              </a:rPr>
              <a:t>Problem Statement ID:      </a:t>
            </a:r>
            <a:r>
              <a:rPr sz="2000" b="1" dirty="0">
                <a:solidFill>
                  <a:srgbClr val="1E293B"/>
                </a:solidFill>
              </a:rPr>
              <a:t>Task 4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D97706"/>
                </a:solidFill>
              </a:rPr>
              <a:t>Problem Statement Title</a:t>
            </a:r>
            <a:r>
              <a:rPr sz="2000" b="1">
                <a:solidFill>
                  <a:srgbClr val="D97706"/>
                </a:solidFill>
              </a:rPr>
              <a:t>:   </a:t>
            </a:r>
            <a:r>
              <a:rPr lang="en-US" sz="2000" b="1">
                <a:solidFill>
                  <a:srgbClr val="1E293B"/>
                </a:solidFill>
              </a:rPr>
              <a:t>AI-Powered Behavioral Anomaly Detection for Cybersecurity</a:t>
            </a:r>
            <a:endParaRPr sz="2000" b="1" dirty="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D97706"/>
                </a:solidFill>
              </a:rPr>
              <a:t>Theme:                     </a:t>
            </a:r>
            <a:r>
              <a:rPr sz="2000" b="1" dirty="0">
                <a:solidFill>
                  <a:srgbClr val="1E293B"/>
                </a:solidFill>
              </a:rPr>
              <a:t>Cyber Security &amp; AI Operations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D97706"/>
                </a:solidFill>
              </a:rPr>
              <a:t>PS Category:               </a:t>
            </a:r>
            <a:r>
              <a:rPr sz="2000" b="1" dirty="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D97706"/>
                </a:solidFill>
              </a:rPr>
              <a:t>Team Name / Lead:          </a:t>
            </a:r>
            <a:r>
              <a:rPr sz="2000" b="1" dirty="0">
                <a:solidFill>
                  <a:srgbClr val="1E293B"/>
                </a:solidFill>
              </a:rPr>
              <a:t>Raj Verma</a:t>
            </a:r>
          </a:p>
          <a:p>
            <a:pPr>
              <a:spcAft>
                <a:spcPts val="1000"/>
              </a:spcAft>
            </a:pPr>
            <a:r>
              <a:rPr sz="2000" b="1" dirty="0">
                <a:solidFill>
                  <a:srgbClr val="D97706"/>
                </a:solidFill>
              </a:rPr>
              <a:t>Registration ID:           </a:t>
            </a:r>
            <a:r>
              <a:rPr sz="2000" b="1" dirty="0">
                <a:solidFill>
                  <a:srgbClr val="1E293B"/>
                </a:solidFill>
              </a:rPr>
              <a:t>23BAI10806</a:t>
            </a:r>
            <a:endParaRPr lang="en-IN" sz="2000" b="1" dirty="0">
              <a:solidFill>
                <a:srgbClr val="1E293B"/>
              </a:solidFill>
            </a:endParaRPr>
          </a:p>
          <a:p>
            <a:pPr>
              <a:spcAft>
                <a:spcPts val="1000"/>
              </a:spcAft>
            </a:pPr>
            <a:r>
              <a:rPr lang="en-US" sz="2000" b="1" dirty="0">
                <a:solidFill>
                  <a:srgbClr val="D97706"/>
                </a:solidFill>
              </a:rPr>
              <a:t>Live Web Dashboard:        </a:t>
            </a:r>
            <a:r>
              <a:rPr lang="en-US" sz="2000" b="1" dirty="0">
                <a:solidFill>
                  <a:srgbClr val="0284C7"/>
                </a:solidFill>
              </a:rPr>
              <a:t>https://honeywell-seven.vercel.app/</a:t>
            </a:r>
          </a:p>
          <a:p>
            <a:pPr>
              <a:spcAft>
                <a:spcPts val="1000"/>
              </a:spcAft>
            </a:pPr>
            <a:endParaRPr sz="2000" b="1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3200"/>
              <a:t>IDEA TITLE: SENTINELAI HYBRID ENSEMBLE DEFENSE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13455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30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🛡️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47695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Core Architecture: </a:t>
            </a:r>
            <a:r>
              <a:rPr sz="1400" dirty="0">
                <a:solidFill>
                  <a:srgbClr val="475569"/>
                </a:solidFill>
              </a:rPr>
              <a:t>Tier-Gated Monotonic Hybrid Ensemble fusing static statistical rules with </a:t>
            </a:r>
            <a:r>
              <a:rPr sz="1400" dirty="0" err="1">
                <a:solidFill>
                  <a:srgbClr val="475569"/>
                </a:solidFill>
              </a:rPr>
              <a:t>PyTorch</a:t>
            </a:r>
            <a:r>
              <a:rPr sz="1400" dirty="0">
                <a:solidFill>
                  <a:srgbClr val="475569"/>
                </a:solidFill>
              </a:rPr>
              <a:t> LSTM sequence autoencoders.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Dual-Engine Logic: </a:t>
            </a:r>
            <a:r>
              <a:rPr sz="1400" dirty="0">
                <a:solidFill>
                  <a:srgbClr val="475569"/>
                </a:solidFill>
              </a:rPr>
              <a:t>Baseline Profiler scores policy violations (base &gt;= 3.0); LSTM Autoencoder detects rolling sequence traversal (</a:t>
            </a:r>
            <a:r>
              <a:rPr sz="1400" dirty="0" err="1">
                <a:solidFill>
                  <a:srgbClr val="475569"/>
                </a:solidFill>
              </a:rPr>
              <a:t>res_recent</a:t>
            </a:r>
            <a:r>
              <a:rPr sz="1400" dirty="0">
                <a:solidFill>
                  <a:srgbClr val="475569"/>
                </a:solidFill>
              </a:rPr>
              <a:t> &gt;= 5).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SOC Command Center: </a:t>
            </a:r>
            <a:r>
              <a:rPr sz="1400" dirty="0">
                <a:solidFill>
                  <a:srgbClr val="475569"/>
                </a:solidFill>
              </a:rPr>
              <a:t>Interactive </a:t>
            </a:r>
            <a:r>
              <a:rPr sz="1400" dirty="0" err="1">
                <a:solidFill>
                  <a:srgbClr val="475569"/>
                </a:solidFill>
              </a:rPr>
              <a:t>glassmorphic</a:t>
            </a:r>
            <a:r>
              <a:rPr sz="1400" dirty="0">
                <a:solidFill>
                  <a:srgbClr val="475569"/>
                </a:solidFill>
              </a:rPr>
              <a:t> dashboard featuring live Chart.js analytics, automated incident narratives, and XAI feature attribution.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Production Integration: </a:t>
            </a:r>
            <a:r>
              <a:rPr sz="1400" dirty="0">
                <a:solidFill>
                  <a:srgbClr val="475569"/>
                </a:solidFill>
              </a:rPr>
              <a:t>Real-time streaming ingestion pipeline designed for Kafka/Flink enterprise SIEM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13455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30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🎯 PROBLEM-FIT &amp;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47695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Operational Bottleneck: </a:t>
            </a:r>
            <a:r>
              <a:rPr sz="1400">
                <a:solidFill>
                  <a:srgbClr val="475569"/>
                </a:solidFill>
              </a:rPr>
              <a:t>Unsupervised ML noise tails displace high-precision static rules at tight SOC alert budgets (Top 1% cutoffs).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Zero Rule Degradation: </a:t>
            </a:r>
            <a:r>
              <a:rPr sz="1400">
                <a:solidFill>
                  <a:srgbClr val="475569"/>
                </a:solidFill>
              </a:rPr>
              <a:t>Monotonic additive blend preserves baseline rule floor intact, preventing high-precision policy catches from being crowded out.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Analyst Queue Control: </a:t>
            </a:r>
            <a:r>
              <a:rPr sz="1400">
                <a:solidFill>
                  <a:srgbClr val="475569"/>
                </a:solidFill>
              </a:rPr>
              <a:t>Restricts daily analyst workload to ~12 alerts/day while maintaining an 81.32% overall core attack catch rate.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STEALTH Threat Capture: </a:t>
            </a:r>
            <a:r>
              <a:rPr sz="1400">
                <a:solidFill>
                  <a:srgbClr val="475569"/>
                </a:solidFill>
              </a:rPr>
              <a:t>Surfaces multi-step lateral movement attacks that bypass traditional single-event static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13455" cy="685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3230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INNOVATION &amp; 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47695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Sequence Breakthrough: </a:t>
            </a:r>
            <a:r>
              <a:rPr sz="1400">
                <a:solidFill>
                  <a:srgbClr val="475569"/>
                </a:solidFill>
              </a:rPr>
              <a:t>+6 Lateral Movement Catches: Lifts recall from 44.16% (34/77) to 51.95% (40/77) @ Top 2.5% budget over static rules.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Monotonic Additive Blend: </a:t>
            </a:r>
            <a:r>
              <a:rPr sz="1400">
                <a:solidFill>
                  <a:srgbClr val="475569"/>
                </a:solidFill>
              </a:rPr>
              <a:t>Operates on a single unified ranked list with 0% false displacement of deterministic policy breaches.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Empirical Validation: </a:t>
            </a:r>
            <a:r>
              <a:rPr sz="1400">
                <a:solidFill>
                  <a:srgbClr val="475569"/>
                </a:solidFill>
              </a:rPr>
              <a:t>Verified over 60 days of enterprise telemetry (145,290 events), boosting Core PR-AUC from 0.7201 to 0.7475.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Explainable AI (XAI): </a:t>
            </a:r>
            <a:r>
              <a:rPr sz="1400">
                <a:solidFill>
                  <a:srgbClr val="475569"/>
                </a:solidFill>
              </a:rPr>
              <a:t>Generates automated human-readable incident narratives for every escalation in the triage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3200"/>
              <a:t>TECHNICAL APPROACH &amp;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7830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/>
              <a:t>1. Telemetry Engine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rPr sz="1200"/>
              <a:t>Synthetic Enterprise Telemetry</a:t>
            </a:r>
            <a:br>
              <a:rPr sz="1200"/>
            </a:br>
            <a:r>
              <a:rPr sz="1200"/>
              <a:t>145,290 events (60 Days)</a:t>
            </a:r>
            <a:br>
              <a:rPr sz="1200"/>
            </a:br>
            <a:r>
              <a:rPr sz="1200"/>
              <a:t>50 Users + 10 Service Accounts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4320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Rounded Rectangle 5"/>
          <p:cNvSpPr/>
          <p:nvPr/>
        </p:nvSpPr>
        <p:spPr>
          <a:xfrm>
            <a:off x="297180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3063240" y="1417320"/>
            <a:ext cx="178308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/>
              <a:t>2. Baseline Profiler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rPr sz="1200"/>
              <a:t>Dynamic Statistical Rules</a:t>
            </a:r>
            <a:br>
              <a:rPr sz="1200"/>
            </a:br>
            <a:r>
              <a:rPr sz="1200"/>
              <a:t>Z-scores for Hour/Duration</a:t>
            </a:r>
            <a:br>
              <a:rPr sz="1200"/>
            </a:br>
            <a:r>
              <a:rPr sz="1200"/>
              <a:t>Set checks: Geo/Device/Resource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8348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521208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5303520" y="1417320"/>
            <a:ext cx="17830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/>
              <a:t>3. ML Sequence Models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rPr sz="1200"/>
              <a:t>PyTorch LSTM Autoencoder</a:t>
            </a:r>
            <a:br>
              <a:rPr sz="1200"/>
            </a:br>
            <a:r>
              <a:rPr sz="1200"/>
              <a:t>W=10 Windows + MSE Loss</a:t>
            </a:r>
            <a:br>
              <a:rPr sz="1200"/>
            </a:br>
            <a:r>
              <a:rPr sz="1200"/>
              <a:t>Tabular Isolation Forest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745236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7543800" y="1417320"/>
            <a:ext cx="17830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/>
              <a:t>4. Hybrid Ensemble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rPr sz="1200"/>
              <a:t>Tier-Gated Monotonic Blend</a:t>
            </a:r>
            <a:br>
              <a:rPr sz="1200"/>
            </a:br>
            <a:r>
              <a:rPr sz="1200"/>
              <a:t>Rule Floor + Sequence Boost</a:t>
            </a:r>
            <a:br>
              <a:rPr sz="1200"/>
            </a:br>
            <a:r>
              <a:rPr sz="1200"/>
              <a:t>Unified SOC Risk Ranking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64040" y="2148840"/>
            <a:ext cx="182880" cy="32004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Rounded Rectangle 14"/>
          <p:cNvSpPr/>
          <p:nvPr/>
        </p:nvSpPr>
        <p:spPr>
          <a:xfrm>
            <a:off x="9692640" y="1325880"/>
            <a:ext cx="1965960" cy="2011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9784080" y="1417320"/>
            <a:ext cx="178308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/>
              <a:t>5. SOC Dashboard</a:t>
            </a:r>
          </a:p>
          <a:p>
            <a:pPr>
              <a:spcBef>
                <a:spcPts val="600"/>
              </a:spcBef>
              <a:defRPr sz="1050">
                <a:solidFill>
                  <a:srgbClr val="475569"/>
                </a:solidFill>
              </a:defRPr>
            </a:pPr>
            <a:r>
              <a:rPr sz="1200"/>
              <a:t>Glassmorphic Web Command Center</a:t>
            </a:r>
            <a:br>
              <a:rPr sz="1200"/>
            </a:br>
            <a:r>
              <a:rPr sz="1200"/>
              <a:t>Live Chart.js KPIs + Narratives</a:t>
            </a:r>
            <a:br>
              <a:rPr sz="1200"/>
            </a:br>
            <a:r>
              <a:rPr sz="1200"/>
              <a:t>Interactive Feature Attribution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20440"/>
            <a:ext cx="10728655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657600"/>
            <a:ext cx="10180015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rPr sz="1400" dirty="0"/>
              <a:t>TECHNOLOGY STACK &amp; METHODOLOGY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</a:rPr>
              <a:t>• Core Machine Learning Stack:     </a:t>
            </a:r>
            <a:r>
              <a:rPr sz="1400" dirty="0">
                <a:solidFill>
                  <a:srgbClr val="475569"/>
                </a:solidFill>
              </a:rPr>
              <a:t>Python 3.12, </a:t>
            </a:r>
            <a:r>
              <a:rPr sz="1400" dirty="0" err="1">
                <a:solidFill>
                  <a:srgbClr val="475569"/>
                </a:solidFill>
              </a:rPr>
              <a:t>PyTorch</a:t>
            </a:r>
            <a:r>
              <a:rPr sz="1400" dirty="0">
                <a:solidFill>
                  <a:srgbClr val="475569"/>
                </a:solidFill>
              </a:rPr>
              <a:t> (LSTM Autoencoders), Scikit-Learn (Isolation Forest), Pandas, NumPy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</a:rPr>
              <a:t>• Frontend &amp; SOC Command Center:   </a:t>
            </a:r>
            <a:r>
              <a:rPr sz="1400" dirty="0">
                <a:solidFill>
                  <a:srgbClr val="475569"/>
                </a:solidFill>
              </a:rPr>
              <a:t>Vanilla JavaScript (ES6+), HTML5, CSS3 </a:t>
            </a:r>
            <a:r>
              <a:rPr sz="1400" dirty="0" err="1">
                <a:solidFill>
                  <a:srgbClr val="475569"/>
                </a:solidFill>
              </a:rPr>
              <a:t>Glassmorphic</a:t>
            </a:r>
            <a:r>
              <a:rPr sz="1400" dirty="0">
                <a:solidFill>
                  <a:srgbClr val="475569"/>
                </a:solidFill>
              </a:rPr>
              <a:t> UI, Chart.js Visual Analytics Suite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</a:rPr>
              <a:t>• Mathematical Hybrid Formulation: </a:t>
            </a:r>
            <a:r>
              <a:rPr sz="1400" dirty="0" err="1">
                <a:solidFill>
                  <a:srgbClr val="475569"/>
                </a:solidFill>
              </a:rPr>
              <a:t>HybridScore</a:t>
            </a:r>
            <a:r>
              <a:rPr sz="1400" dirty="0">
                <a:solidFill>
                  <a:srgbClr val="475569"/>
                </a:solidFill>
              </a:rPr>
              <a:t> = </a:t>
            </a:r>
            <a:r>
              <a:rPr sz="1400" dirty="0" err="1">
                <a:solidFill>
                  <a:srgbClr val="475569"/>
                </a:solidFill>
              </a:rPr>
              <a:t>BaseScore</a:t>
            </a:r>
            <a:r>
              <a:rPr sz="1400" dirty="0">
                <a:solidFill>
                  <a:srgbClr val="475569"/>
                </a:solidFill>
              </a:rPr>
              <a:t> if </a:t>
            </a:r>
            <a:r>
              <a:rPr sz="1400" dirty="0" err="1">
                <a:solidFill>
                  <a:srgbClr val="475569"/>
                </a:solidFill>
              </a:rPr>
              <a:t>BaseScore</a:t>
            </a:r>
            <a:r>
              <a:rPr sz="1400" dirty="0">
                <a:solidFill>
                  <a:srgbClr val="475569"/>
                </a:solidFill>
              </a:rPr>
              <a:t> &gt;= 3.0 else </a:t>
            </a:r>
            <a:r>
              <a:rPr sz="1400" dirty="0" err="1">
                <a:solidFill>
                  <a:srgbClr val="475569"/>
                </a:solidFill>
              </a:rPr>
              <a:t>BaseScore</a:t>
            </a:r>
            <a:r>
              <a:rPr sz="1400" dirty="0">
                <a:solidFill>
                  <a:srgbClr val="475569"/>
                </a:solidFill>
              </a:rPr>
              <a:t> + 0.99 * </a:t>
            </a:r>
            <a:r>
              <a:rPr sz="1400" dirty="0" err="1">
                <a:solidFill>
                  <a:srgbClr val="475569"/>
                </a:solidFill>
              </a:rPr>
              <a:t>LSTM_pct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res_recent</a:t>
            </a:r>
            <a:r>
              <a:rPr sz="1400" dirty="0">
                <a:solidFill>
                  <a:srgbClr val="475569"/>
                </a:solidFill>
              </a:rPr>
              <a:t> &gt;= 5)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F172A"/>
                </a:solidFill>
              </a:rPr>
              <a:t>• Unsupervised Training Rigor:     </a:t>
            </a:r>
            <a:r>
              <a:rPr sz="1400" dirty="0">
                <a:solidFill>
                  <a:srgbClr val="475569"/>
                </a:solidFill>
              </a:rPr>
              <a:t>Models trained exclusively on unlabeled telemetry containing ~2.5% real attacks mixed in as normal traffic.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3200"/>
              <a:t>FEASIBILITY &amp; VIABILITY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13455" cy="6858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3230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FEASIBILITY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47695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Native Log Compatibility: </a:t>
            </a:r>
            <a:r>
              <a:rPr sz="1400">
                <a:solidFill>
                  <a:srgbClr val="475569"/>
                </a:solidFill>
              </a:rPr>
              <a:t>Engineered to ingest standard enterprise W3C / Syslog / JSON audit events without custom hardware.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Low-Latency Inference: </a:t>
            </a:r>
            <a:r>
              <a:rPr sz="1400">
                <a:solidFill>
                  <a:srgbClr val="475569"/>
                </a:solidFill>
              </a:rPr>
              <a:t>Per-event scoring completes in &lt; 5ms, supporting real-time SIEM streaming ingestion.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Production Scalability: </a:t>
            </a:r>
            <a:r>
              <a:rPr sz="1400">
                <a:solidFill>
                  <a:srgbClr val="475569"/>
                </a:solidFill>
              </a:rPr>
              <a:t>Readily deployable as a Kafka / Flink microservice consumer in hybrid cloud environments.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Zero Model Overhead: </a:t>
            </a:r>
            <a:r>
              <a:rPr sz="1400">
                <a:solidFill>
                  <a:srgbClr val="475569"/>
                </a:solidFill>
              </a:rPr>
              <a:t>Compact LSTM architecture runs efficiently on standard CPU nodes without requiring expensive GPUs.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13455" cy="6858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30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POTENTIAL CHALLENGES &amp;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47695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Alert Budget Displacement: </a:t>
            </a:r>
            <a:r>
              <a:rPr sz="1400">
                <a:solidFill>
                  <a:srgbClr val="475569"/>
                </a:solidFill>
              </a:rPr>
              <a:t>Unsupervised ML noise tails can crowd out high-precision static rules at Top 1% cutoffs.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Sparse Entity Cold-Start: </a:t>
            </a:r>
            <a:r>
              <a:rPr sz="1400">
                <a:solidFill>
                  <a:srgbClr val="475569"/>
                </a:solidFill>
              </a:rPr>
              <a:t>Newly onboarded user/system accounts lack historical event volume for LSTM sequences.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Operational Queue Saturation: </a:t>
            </a:r>
            <a:r>
              <a:rPr sz="1400">
                <a:solidFill>
                  <a:srgbClr val="475569"/>
                </a:solidFill>
              </a:rPr>
              <a:t>Surges in daily traffic can flood analyst triage queues during peak activity hours.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Adversarial Evasion: </a:t>
            </a:r>
            <a:r>
              <a:rPr sz="1400">
                <a:solidFill>
                  <a:srgbClr val="475569"/>
                </a:solidFill>
              </a:rPr>
              <a:t>Attractors throttling attack velocity to remain under Z-score statistical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4134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8046720" y="1325880"/>
            <a:ext cx="3413455" cy="685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8138160" y="1371600"/>
            <a:ext cx="32305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STRATEGIES FOR OVERCOMING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47695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Monotonic Blend Floor: </a:t>
            </a:r>
            <a:r>
              <a:rPr sz="1400">
                <a:solidFill>
                  <a:srgbClr val="475569"/>
                </a:solidFill>
              </a:rPr>
              <a:t>Tier-gated formula preserves rule floor intact (`base &gt;= 3.0`), ensuring zero static rule displacement.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Population Fallback Profiles: </a:t>
            </a:r>
            <a:r>
              <a:rPr sz="1400">
                <a:solidFill>
                  <a:srgbClr val="475569"/>
                </a:solidFill>
              </a:rPr>
              <a:t>Sparse accounts (&lt; 10 events) automatically inherit global population baseline statistics.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Targeted Sequence Amplification: </a:t>
            </a:r>
            <a:r>
              <a:rPr sz="1400">
                <a:solidFill>
                  <a:srgbClr val="475569"/>
                </a:solidFill>
              </a:rPr>
              <a:t>Percentile sequence boost triggers only on high-traversal entities (`res_recent &gt;= 5`).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</a:rPr>
              <a:t>• Adaptive Velocity Profiling: </a:t>
            </a:r>
            <a:r>
              <a:rPr sz="1400">
                <a:solidFill>
                  <a:srgbClr val="475569"/>
                </a:solidFill>
              </a:rPr>
              <a:t>Multi-window tracking detects low-and-slow attacks across extended 60-day horizons.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9004" y="4572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dirty="0"/>
              <a:t>PROJECT ARTIFACTS &amp; LIVE DASHBOARD DEMONSTRATION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3084" y="805660"/>
            <a:ext cx="4607091" cy="56408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29948" y="1015519"/>
            <a:ext cx="4055807" cy="5380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rPr sz="1400" dirty="0"/>
              <a:t>KEY METRICS &amp; ARTIFACTS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Core Anomaly PR-AUC:
</a:t>
            </a:r>
            <a:r>
              <a:rPr sz="1400" dirty="0">
                <a:solidFill>
                  <a:srgbClr val="475569"/>
                </a:solidFill>
              </a:rPr>
              <a:t>0.7475 (vs Static Rules 0.7201, Isolation Forest 0.2980)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Heuristic Precision:
</a:t>
            </a:r>
            <a:r>
              <a:rPr sz="1400" dirty="0">
                <a:solidFill>
                  <a:srgbClr val="475569"/>
                </a:solidFill>
              </a:rPr>
              <a:t>Zero performance drop on static rules (Credential Stuffing 174/176, Impossible Travel 75/75)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Lateral Movement Recall:
</a:t>
            </a:r>
            <a:r>
              <a:rPr sz="1400" dirty="0">
                <a:solidFill>
                  <a:srgbClr val="475569"/>
                </a:solidFill>
              </a:rPr>
              <a:t>51.95% (40/77) @ Top 2.5% Budget — +6 extra catches over static baseline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Exfiltration Recall:
</a:t>
            </a:r>
            <a:r>
              <a:rPr sz="1400" dirty="0">
                <a:solidFill>
                  <a:srgbClr val="475569"/>
                </a:solidFill>
              </a:rPr>
              <a:t>39.77% (35/88) @ Top 2.5% Budget — +4 extra detections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Live Web Dashboard:
</a:t>
            </a:r>
            <a:r>
              <a:rPr sz="1400" dirty="0">
                <a:solidFill>
                  <a:srgbClr val="475569"/>
                </a:solidFill>
              </a:rPr>
              <a:t>https://honeywell-seven.vercel.app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0F172A"/>
                </a:solidFill>
              </a:rPr>
              <a:t>• Source Code Artifacts:
</a:t>
            </a:r>
            <a:r>
              <a:rPr sz="1400" dirty="0">
                <a:solidFill>
                  <a:srgbClr val="475569"/>
                </a:solidFill>
              </a:rPr>
              <a:t>FINAL_REPORT.md, ml/ensemble_scorer.py, dashboard/app.js, </a:t>
            </a:r>
            <a:r>
              <a:rPr sz="1400" dirty="0" err="1">
                <a:solidFill>
                  <a:srgbClr val="475569"/>
                </a:solidFill>
              </a:rPr>
              <a:t>dashboard_feed.json</a:t>
            </a:r>
            <a:endParaRPr sz="1400" dirty="0">
              <a:solidFill>
                <a:srgbClr val="47556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FE373E-D90F-13A2-EECE-0EE828A7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49" y="564373"/>
            <a:ext cx="6438381" cy="308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72A1B6-224C-5C81-FC94-082AE7F30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148" y="3652481"/>
            <a:ext cx="6438382" cy="30969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Arial"/>
              </a:defRPr>
            </a:pPr>
            <a:r>
              <a:rPr sz="4000" dirty="0"/>
              <a:t>RESEARCH &amp; 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28655" cy="51206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8001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</a:defRPr>
            </a:pPr>
            <a:r>
              <a:rPr sz="1400"/>
              <a:t>ACADEMIC &amp; INDUSTRY REFERENCE CITATIONS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F172A"/>
                </a:solidFill>
              </a:rPr>
              <a:t>[Ref] Hochreiter, S., &amp; Schmidhuber, J. (1997). </a:t>
            </a:r>
            <a:r>
              <a:rPr>
                <a:solidFill>
                  <a:srgbClr val="475569"/>
                </a:solidFill>
              </a:rPr>
              <a:t>Long Short-Term Memory. Neural Computation, 9(8), 1735-1780. [Foundational recurrent neural network architecture utilized for sequence reconstruction loss].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F172A"/>
                </a:solidFill>
              </a:rPr>
              <a:t>[Ref] Liu, F. T., Ting, K. M., &amp; Zhou, Z. H. (2008). </a:t>
            </a:r>
            <a:r>
              <a:rPr>
                <a:solidFill>
                  <a:srgbClr val="475569"/>
                </a:solidFill>
              </a:rPr>
              <a:t>Isolation Forest. In 2008 Eighth IEEE International Conference on Data Mining (pp. 413-422). [Tabular unsupervised anomaly detection baseline benchmark].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F172A"/>
                </a:solidFill>
              </a:rPr>
              <a:t>[Ref] NIST Special Publication 800-94 (Rev. 1). </a:t>
            </a:r>
            <a:r>
              <a:rPr>
                <a:solidFill>
                  <a:srgbClr val="475569"/>
                </a:solidFill>
              </a:rPr>
              <a:t>Guide to Intrusion Detection and Prevention Systems (IDPS). National Institute of Standards and Technology. [Framework for SOC alert queue regulation and precision boundaries].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F172A"/>
                </a:solidFill>
              </a:rPr>
              <a:t>[Ref] MITRE ATT&amp;CK Matrix for Enterprise (2026). </a:t>
            </a:r>
            <a:r>
              <a:rPr>
                <a:solidFill>
                  <a:srgbClr val="475569"/>
                </a:solidFill>
              </a:rPr>
              <a:t>Technique T1078 (Valid Accounts), T1021 (Remote Services), T1048 (Exfiltration Over Alternative Protocol). [Taxonomy for injected threat subtypes].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F172A"/>
                </a:solidFill>
              </a:rPr>
              <a:t>[Ref] Honeywell Cyber Security Operations Center (2026). </a:t>
            </a:r>
            <a:r>
              <a:rPr>
                <a:solidFill>
                  <a:srgbClr val="475569"/>
                </a:solidFill>
              </a:rPr>
              <a:t>Technical Evaluation Report: Tiered Hybrid Ensemble Architecture for Enterprise Anomaly Defense. Internal Whitepaper (FINAL_REPORT.md).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1135</Words>
  <Application>Microsoft Office PowerPoint</Application>
  <PresentationFormat>Widescreen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 Verma</cp:lastModifiedBy>
  <cp:revision>2</cp:revision>
  <dcterms:created xsi:type="dcterms:W3CDTF">2013-01-27T09:14:16Z</dcterms:created>
  <dcterms:modified xsi:type="dcterms:W3CDTF">2026-07-26T17:05:39Z</dcterms:modified>
  <cp:category/>
</cp:coreProperties>
</file>