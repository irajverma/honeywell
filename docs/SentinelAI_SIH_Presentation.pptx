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9713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 b="1">
                <a:solidFill>
                  <a:srgbClr val="0F172A"/>
                </a:solidFill>
              </a:defRPr>
            </a:pPr>
            <a:r>
              <a:t>SentinelAI: Tiered Hybrid Ensemble Architecture for Enterprise Anomaly Defense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Problem Statement ID:      </a:t>
            </a:r>
            <a:r>
              <a:rPr b="1" sz="1300">
                <a:solidFill>
                  <a:srgbClr val="1E293B"/>
                </a:solidFill>
              </a:rPr>
              <a:t>Task 4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Problem Statement Title:   </a:t>
            </a:r>
            <a:r>
              <a:rPr b="1" sz="1300">
                <a:solidFill>
                  <a:srgbClr val="1E293B"/>
                </a:solidFill>
              </a:rPr>
              <a:t>Behavioral Anomaly Detection &amp; Threat Hunting in Multi-Entity Enterprise Telemetry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Theme:                     </a:t>
            </a:r>
            <a:r>
              <a:rPr b="1" sz="1300">
                <a:solidFill>
                  <a:srgbClr val="1E293B"/>
                </a:solidFill>
              </a:rPr>
              <a:t>Cyber Security &amp; AI Operations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PS Category:               </a:t>
            </a:r>
            <a:r>
              <a:rPr b="1" sz="13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Team Name / Lead:          </a:t>
            </a:r>
            <a:r>
              <a:rPr b="1" sz="1300">
                <a:solidFill>
                  <a:srgbClr val="1E293B"/>
                </a:solidFill>
              </a:rPr>
              <a:t>Raj Verma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Registration ID:           </a:t>
            </a:r>
            <a:r>
              <a:rPr b="1" sz="1300">
                <a:solidFill>
                  <a:srgbClr val="1E293B"/>
                </a:solidFill>
              </a:rPr>
              <a:t>23BAI10806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Live Web Dashboard:        </a:t>
            </a:r>
            <a:r>
              <a:rPr b="1" sz="1300">
                <a:solidFill>
                  <a:srgbClr val="0284C7"/>
                </a:solidFill>
              </a:rPr>
              <a:t>https://honeywell-seven.vercel.app/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IDEA TITLE: SENTINELAI HYBRID ENSEMBLE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13455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230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Core Architecture: </a:t>
            </a:r>
            <a:r>
              <a:rPr sz="1100">
                <a:solidFill>
                  <a:srgbClr val="475569"/>
                </a:solidFill>
              </a:rPr>
              <a:t>Tier-Gated Monotonic Hybrid Ensemble fusing static statistical rules with PyTorch LSTM sequence autoencoders.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Dual-Engine Logic: </a:t>
            </a:r>
            <a:r>
              <a:rPr sz="1100">
                <a:solidFill>
                  <a:srgbClr val="475569"/>
                </a:solidFill>
              </a:rPr>
              <a:t>Baseline Profiler scores policy violations (base &gt;= 3.0); LSTM Autoencoder detects rolling sequence traversal (res_recent &gt;= 5).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Live SOC Command Center: </a:t>
            </a:r>
            <a:r>
              <a:rPr sz="1100">
                <a:solidFill>
                  <a:srgbClr val="0284C7"/>
                </a:solidFill>
              </a:rPr>
              <a:t>Interactive glassmorphic dashboard deployed live at https://honeywell-seven.vercel.app/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Production Integration: </a:t>
            </a:r>
            <a:r>
              <a:rPr sz="1100">
                <a:solidFill>
                  <a:srgbClr val="475569"/>
                </a:solidFill>
              </a:rPr>
              <a:t>Real-time streaming ingestion pipeline designed for Kafka/Flink enterprise SIEM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13455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30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PROBLEM-FIT &amp;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Operational Bottleneck: </a:t>
            </a:r>
            <a:r>
              <a:rPr sz="1100">
                <a:solidFill>
                  <a:srgbClr val="475569"/>
                </a:solidFill>
              </a:rPr>
              <a:t>Unsupervised ML noise tails displace high-precision static rules at tight SOC alert budgets (Top 1% cutoffs).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Zero Rule Degradation: </a:t>
            </a:r>
            <a:r>
              <a:rPr sz="1100">
                <a:solidFill>
                  <a:srgbClr val="475569"/>
                </a:solidFill>
              </a:rPr>
              <a:t>Monotonic additive blend preserves baseline rule floor intact, preventing high-precision policy catches from being crowded out.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Analyst Queue Control: </a:t>
            </a:r>
            <a:r>
              <a:rPr sz="1100">
                <a:solidFill>
                  <a:srgbClr val="475569"/>
                </a:solidFill>
              </a:rPr>
              <a:t>Restricts daily analyst workload to ~12 alerts/day while maintaining an 81.32% overall core attack catch rate.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STEALTH Threat Capture: </a:t>
            </a:r>
            <a:r>
              <a:rPr sz="1100">
                <a:solidFill>
                  <a:srgbClr val="475569"/>
                </a:solidFill>
              </a:rPr>
              <a:t>Surfaces multi-step lateral movement attacks that bypass traditional single-event static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13455" cy="685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371600"/>
            <a:ext cx="3230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INNOVATION &amp; UNIQUENESS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Sequence Breakthrough: </a:t>
            </a:r>
            <a:r>
              <a:rPr sz="1100">
                <a:solidFill>
                  <a:srgbClr val="475569"/>
                </a:solidFill>
              </a:rPr>
              <a:t>+6 Lateral Movement Catches: Lifts recall from 44.16% (34/77) to 51.95% (40/77) @ Top 2.5% budget over static rules.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Monotonic Additive Blend: </a:t>
            </a:r>
            <a:r>
              <a:rPr sz="1100">
                <a:solidFill>
                  <a:srgbClr val="475569"/>
                </a:solidFill>
              </a:rPr>
              <a:t>Operates on a single unified ranked list with 0% false displacement of deterministic policy breaches.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Empirical Validation: </a:t>
            </a:r>
            <a:r>
              <a:rPr sz="1100">
                <a:solidFill>
                  <a:srgbClr val="475569"/>
                </a:solidFill>
              </a:rPr>
              <a:t>Verified over 60 days of enterprise telemetry (145,290 events), boosting Core PR-AUC from 0.7201 to 0.7475.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Explainable AI (XAI): </a:t>
            </a:r>
            <a:r>
              <a:rPr sz="1100">
                <a:solidFill>
                  <a:srgbClr val="475569"/>
                </a:solidFill>
              </a:rPr>
              <a:t>Generates automated human-readable incident narratives for every escalation in the triage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TECHNICAL APPROACH &amp;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Telemetry Engine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Synthetic Enterprise Telemetry</a:t>
            </a:r>
            <a:br/>
            <a:r>
              <a:t>145,290 events (60 Days)</a:t>
            </a:r>
            <a:br/>
            <a:r>
              <a:t>50 Users + 10 Service Accounts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417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Baseline Profiler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Dynamic Statistical Rules</a:t>
            </a:r>
            <a:br/>
            <a:r>
              <a:t>Z-scores for Hour/Duration</a:t>
            </a:r>
            <a:br/>
            <a:r>
              <a:t>Set checks: Geo/Device/Resource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417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ML Sequence Models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PyTorch LSTM Autoencoder</a:t>
            </a:r>
            <a:br/>
            <a:r>
              <a:t>W=10 Windows + MSE Loss</a:t>
            </a:r>
            <a:br/>
            <a:r>
              <a:t>Tabular Isolation Forest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417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4. Hybrid Ensemble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Tier-Gated Monotonic Blend</a:t>
            </a:r>
            <a:br/>
            <a:r>
              <a:t>Rule Floor + Sequence Boost</a:t>
            </a:r>
            <a:br/>
            <a:r>
              <a:t>Unified SOC Risk Ranking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6404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417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5. SOC Dashboard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t>Glassmorphic Command Center</a:t>
            </a:r>
            <a:br/>
            <a:r>
              <a:t>Deployed @ honeywell-seven.vercel.app</a:t>
            </a:r>
            <a:br/>
            <a:r>
              <a:t>Chart.js KPIs + Narratives + XAI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10728655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1018001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TECHNOLOGY STACK &amp; METHODOLOGY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Core Machine Learning Stack:     </a:t>
            </a:r>
            <a:r>
              <a:rPr sz="1150">
                <a:solidFill>
                  <a:srgbClr val="475569"/>
                </a:solidFill>
              </a:rPr>
              <a:t>Python 3.12, PyTorch (LSTM Autoencoders), Scikit-Learn (Isolation Forest), Pandas, NumPy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Frontend &amp; SOC Command Center:   </a:t>
            </a:r>
            <a:r>
              <a:rPr sz="1150">
                <a:solidFill>
                  <a:srgbClr val="475569"/>
                </a:solidFill>
              </a:rPr>
              <a:t>Vanilla JavaScript (ES6+), HTML5, CSS3 Glassmorphic UI, Chart.js Analytics Suite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Live Production Deployment:      </a:t>
            </a:r>
            <a:r>
              <a:rPr sz="1150">
                <a:solidFill>
                  <a:srgbClr val="0284C7"/>
                </a:solidFill>
              </a:rPr>
              <a:t>Hosted live on Vercel at https://honeywell-seven.vercel.app/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</a:rPr>
              <a:t>• Mathematical Hybrid Formulation: </a:t>
            </a:r>
            <a:r>
              <a:rPr sz="1150">
                <a:solidFill>
                  <a:srgbClr val="475569"/>
                </a:solidFill>
              </a:rPr>
              <a:t>HybridScore = BaseScore if BaseScore &gt;= 3.0 else BaseScore + 0.99 * LSTM_pct (res_recent &gt;= 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FEASIBILITY &amp; VIABILITY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13455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230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FEASIBILITY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Native Log Compatibility: </a:t>
            </a:r>
            <a:r>
              <a:rPr sz="1100">
                <a:solidFill>
                  <a:srgbClr val="475569"/>
                </a:solidFill>
              </a:rPr>
              <a:t>Engineered to ingest standard enterprise W3C / Syslog / JSON audit events without custom hardware.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Low-Latency Inference: </a:t>
            </a:r>
            <a:r>
              <a:rPr sz="1100">
                <a:solidFill>
                  <a:srgbClr val="475569"/>
                </a:solidFill>
              </a:rPr>
              <a:t>Per-event scoring completes in &lt; 5ms, supporting real-time SIEM streaming ingestion.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Production Scalability: </a:t>
            </a:r>
            <a:r>
              <a:rPr sz="1100">
                <a:solidFill>
                  <a:srgbClr val="475569"/>
                </a:solidFill>
              </a:rPr>
              <a:t>Readily deployable as a Kafka / Flink microservice consumer in hybrid cloud environments.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Zero Model Overhead: </a:t>
            </a:r>
            <a:r>
              <a:rPr sz="1100">
                <a:solidFill>
                  <a:srgbClr val="475569"/>
                </a:solidFill>
              </a:rPr>
              <a:t>Compact LSTM architecture runs efficiently on standard CPU nodes without requiring expensive GPUs.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13455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30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POTENTIAL CHALLENGES &amp;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Alert Budget Displacement: </a:t>
            </a:r>
            <a:r>
              <a:rPr sz="1100">
                <a:solidFill>
                  <a:srgbClr val="475569"/>
                </a:solidFill>
              </a:rPr>
              <a:t>Unsupervised ML noise tails can crowd out high-precision static rules at Top 1% cutoffs.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Sparse Entity Cold-Start: </a:t>
            </a:r>
            <a:r>
              <a:rPr sz="1100">
                <a:solidFill>
                  <a:srgbClr val="475569"/>
                </a:solidFill>
              </a:rPr>
              <a:t>Newly onboarded user/system accounts lack historical event volume for LSTM sequences.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Operational Queue Saturation: </a:t>
            </a:r>
            <a:r>
              <a:rPr sz="1100">
                <a:solidFill>
                  <a:srgbClr val="475569"/>
                </a:solidFill>
              </a:rPr>
              <a:t>Surges in daily traffic can flood analyst triage queues during peak activity hours.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Adversarial Evasion: </a:t>
            </a:r>
            <a:r>
              <a:rPr sz="1100">
                <a:solidFill>
                  <a:srgbClr val="475569"/>
                </a:solidFill>
              </a:rPr>
              <a:t>Attractors throttling attack velocity to remain under Z-score statistical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13455" cy="685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371600"/>
            <a:ext cx="3230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STRATEGIES FOR OVERCOMING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Monotonic Blend Floor: </a:t>
            </a:r>
            <a:r>
              <a:rPr sz="1100">
                <a:solidFill>
                  <a:srgbClr val="475569"/>
                </a:solidFill>
              </a:rPr>
              <a:t>Tier-gated formula preserves rule floor intact (`base &gt;= 3.0`), ensuring zero static rule displacement.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Population Fallback Profiles: </a:t>
            </a:r>
            <a:r>
              <a:rPr sz="1100">
                <a:solidFill>
                  <a:srgbClr val="475569"/>
                </a:solidFill>
              </a:rPr>
              <a:t>Sparse accounts (&lt; 10 events) automatically inherit global population baseline statistics.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Targeted Sequence Amplification: </a:t>
            </a:r>
            <a:r>
              <a:rPr sz="1100">
                <a:solidFill>
                  <a:srgbClr val="475569"/>
                </a:solidFill>
              </a:rPr>
              <a:t>Percentile sequence boost triggers only on high-traversal entities (`res_recent &gt;= 5`).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Adaptive Velocity Profiling: </a:t>
            </a:r>
            <a:r>
              <a:rPr sz="1100">
                <a:solidFill>
                  <a:srgbClr val="475569"/>
                </a:solidFill>
              </a:rPr>
              <a:t>Multi-window tracking detects low-and-slow attacks across extended 60-day horizons.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ARTIFACTS &amp; LIVE DASHBOARD DEMONSTRATION</a:t>
            </a:r>
          </a:p>
        </p:txBody>
      </p:sp>
      <p:pic>
        <p:nvPicPr>
          <p:cNvPr id="3" name="Picture 2" descr="dashboard_screenshot_1785078127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122413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325880"/>
            <a:ext cx="38706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508760"/>
            <a:ext cx="3504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KEY METRICS &amp; ARTIFACTS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Core Anomaly PR-AUC:
</a:t>
            </a:r>
            <a:r>
              <a:rPr sz="1100">
                <a:solidFill>
                  <a:srgbClr val="475569"/>
                </a:solidFill>
              </a:rPr>
              <a:t>0.7475 (vs Static Rules 0.7201, Isolation Forest 0.2980)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Heuristic Precision:
</a:t>
            </a:r>
            <a:r>
              <a:rPr sz="1100">
                <a:solidFill>
                  <a:srgbClr val="475569"/>
                </a:solidFill>
              </a:rPr>
              <a:t>Zero performance drop on static rules (Credential Stuffing 174/176, Impossible Travel 75/75)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Lateral Movement Recall:
</a:t>
            </a:r>
            <a:r>
              <a:rPr sz="1100">
                <a:solidFill>
                  <a:srgbClr val="475569"/>
                </a:solidFill>
              </a:rPr>
              <a:t>51.95% (40/77) @ Top 2.5% Budget — +6 extra catches over static baseline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Exfiltration Recall:
</a:t>
            </a:r>
            <a:r>
              <a:rPr sz="1100">
                <a:solidFill>
                  <a:srgbClr val="475569"/>
                </a:solidFill>
              </a:rPr>
              <a:t>39.77% (35/88) @ Top 2.5% Budget — +4 extra detections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Live Web Dashboard:
</a:t>
            </a:r>
            <a:r>
              <a:rPr sz="1100">
                <a:solidFill>
                  <a:srgbClr val="0284C7"/>
                </a:solidFill>
              </a:rPr>
              <a:t>https://honeywell-seven.vercel.app/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</a:rPr>
              <a:t>• Source Code Artifacts:
</a:t>
            </a:r>
            <a:r>
              <a:rPr sz="1100">
                <a:solidFill>
                  <a:srgbClr val="475569"/>
                </a:solidFill>
              </a:rPr>
              <a:t>FINAL_REPORT.md, ml/ensemble_scorer.py, dashboard/app.js, dashboard_feed.json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RESEARCH &amp;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286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800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ACADEMIC &amp; INDUSTRY REFERENCE CITATIONS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</a:rPr>
              <a:t>[Ref] Hochreiter, S., &amp; Schmidhuber, J. (1997). </a:t>
            </a:r>
            <a:r>
              <a:rPr sz="1100">
                <a:solidFill>
                  <a:srgbClr val="475569"/>
                </a:solidFill>
              </a:rPr>
              <a:t>Long Short-Term Memory. Neural Computation, 9(8), 1735-1780. [Foundational recurrent neural network architecture utilized for sequence reconstruction loss].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</a:rPr>
              <a:t>[Ref] Liu, F. T., Ting, K. M., &amp; Zhou, Z. H. (2008). </a:t>
            </a:r>
            <a:r>
              <a:rPr sz="1100">
                <a:solidFill>
                  <a:srgbClr val="475569"/>
                </a:solidFill>
              </a:rPr>
              <a:t>Isolation Forest. In 2008 Eighth IEEE International Conference on Data Mining (pp. 413-422). [Tabular unsupervised anomaly detection baseline benchmark].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</a:rPr>
              <a:t>[Ref] NIST Special Publication 800-94 (Rev. 1). </a:t>
            </a:r>
            <a:r>
              <a:rPr sz="1100">
                <a:solidFill>
                  <a:srgbClr val="475569"/>
                </a:solidFill>
              </a:rPr>
              <a:t>Guide to Intrusion Detection and Prevention Systems (IDPS). National Institute of Standards and Technology. [Framework for SOC alert queue regulation and precision boundaries].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</a:rPr>
              <a:t>[Ref] MITRE ATT&amp;CK Matrix for Enterprise (2026). </a:t>
            </a:r>
            <a:r>
              <a:rPr sz="1100">
                <a:solidFill>
                  <a:srgbClr val="475569"/>
                </a:solidFill>
              </a:rPr>
              <a:t>Technique T1078 (Valid Accounts), T1021 (Remote Services), T1048 (Exfiltration Over Alternative Protocol). [Taxonomy for injected threat subtypes].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F172A"/>
                </a:solidFill>
              </a:rPr>
              <a:t>[Ref] Honeywell Cyber Security Operations Center (2026). </a:t>
            </a:r>
            <a:r>
              <a:rPr sz="1100">
                <a:solidFill>
                  <a:srgbClr val="475569"/>
                </a:solidFill>
              </a:rPr>
              <a:t>Technical Evaluation Report: Tiered Hybrid Ensemble Architecture for Enterprise Anomaly Defense. Internal Whitepaper (FINAL_REPORT.md).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